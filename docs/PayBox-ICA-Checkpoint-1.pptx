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803fca1cdf4c6a" /><Relationship Type="http://schemas.openxmlformats.org/officeDocument/2006/relationships/extended-properties" Target="/docProps/app.xml" Id="R7ce78063d1ea47e0" /><Relationship Type="http://schemas.openxmlformats.org/officeDocument/2006/relationships/officeDocument" Target="/ppt/presentation.xml" Id="Rb9999ef2950246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6f950a766a4d14"/>
  </p:sldMasterIdLst>
  <p:notesMasterIdLst>
    <p:notesMasterId xmlns:r="http://schemas.openxmlformats.org/officeDocument/2006/relationships" r:id="Rb45fc22c23a14c56"/>
  </p:notesMasterIdLst>
  <p:sldIdLst>
    <p:sldId xmlns:r="http://schemas.openxmlformats.org/officeDocument/2006/relationships" id="256" r:id="Rda2f68406efe41e5"/>
    <p:sldId xmlns:r="http://schemas.openxmlformats.org/officeDocument/2006/relationships" id="257" r:id="R16d6985e520a4a67"/>
    <p:sldId xmlns:r="http://schemas.openxmlformats.org/officeDocument/2006/relationships" id="258" r:id="Rd87db999804149ec"/>
    <p:sldId xmlns:r="http://schemas.openxmlformats.org/officeDocument/2006/relationships" id="259" r:id="R195ec85a5dcc4557"/>
    <p:sldId xmlns:r="http://schemas.openxmlformats.org/officeDocument/2006/relationships" id="260" r:id="R188e480e3a7c4d7b"/>
    <p:sldId xmlns:r="http://schemas.openxmlformats.org/officeDocument/2006/relationships" id="261" r:id="R8edaa1c6a09a401d"/>
    <p:sldId xmlns:r="http://schemas.openxmlformats.org/officeDocument/2006/relationships" id="262" r:id="R87919c5a7289439a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d083bdfc254976" /><Relationship Type="http://schemas.openxmlformats.org/officeDocument/2006/relationships/slideMaster" Target="/ppt/slideMasters/slideMaster1.xml" Id="Rfb6f950a766a4d14" /><Relationship Type="http://schemas.openxmlformats.org/officeDocument/2006/relationships/notesMaster" Target="/ppt/notesMasters/notesMaster1.xml" Id="Rb45fc22c23a14c56" /><Relationship Type="http://schemas.openxmlformats.org/officeDocument/2006/relationships/presProps" Target="/ppt/presProps.xml" Id="R5fef6a2abe4a4a98" /><Relationship Type="http://schemas.openxmlformats.org/officeDocument/2006/relationships/viewProps" Target="/ppt/viewProps.xml" Id="Recfba26cc7fb4702" /><Relationship Type="http://schemas.openxmlformats.org/officeDocument/2006/relationships/tableStyles" Target="/ppt/tableStyles.xml" Id="R07e38a9cf311479c" /><Relationship Type="http://schemas.openxmlformats.org/officeDocument/2006/relationships/slide" Target="/ppt/slides/slide1.xml" Id="Rda2f68406efe41e5" /><Relationship Type="http://schemas.openxmlformats.org/officeDocument/2006/relationships/slide" Target="/ppt/slides/slide2.xml" Id="R16d6985e520a4a67" /><Relationship Type="http://schemas.openxmlformats.org/officeDocument/2006/relationships/slide" Target="/ppt/slides/slide3.xml" Id="Rd87db999804149ec" /><Relationship Type="http://schemas.openxmlformats.org/officeDocument/2006/relationships/slide" Target="/ppt/slides/slide4.xml" Id="R195ec85a5dcc4557" /><Relationship Type="http://schemas.openxmlformats.org/officeDocument/2006/relationships/slide" Target="/ppt/slides/slide5.xml" Id="R188e480e3a7c4d7b" /><Relationship Type="http://schemas.openxmlformats.org/officeDocument/2006/relationships/slide" Target="/ppt/slides/slide6.xml" Id="R8edaa1c6a09a401d" /><Relationship Type="http://schemas.openxmlformats.org/officeDocument/2006/relationships/slide" Target="/ppt/slides/slide7.xml" Id="R87919c5a728943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a3e6e3d8664a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PayBox">
      <a:dk1>
        <a:srgbClr val="173B35"/>
      </a:dk1>
      <a:lt1>
        <a:srgbClr val="FFFFFF"/>
      </a:lt1>
      <a:dk2>
        <a:srgbClr val="21554D"/>
      </a:dk2>
      <a:lt2>
        <a:srgbClr val="EFF7F3"/>
      </a:lt2>
      <a:accent1>
        <a:srgbClr val="173B35"/>
      </a:accent1>
      <a:accent2>
        <a:srgbClr val="B7F0D4"/>
      </a:accent2>
      <a:accent3>
        <a:srgbClr val="21554D"/>
      </a:accent3>
      <a:accent4>
        <a:srgbClr val="91B6A6"/>
      </a:accent4>
      <a:accent5>
        <a:srgbClr val="EFF7F3"/>
      </a:accent5>
      <a:accent6>
        <a:srgbClr val="087F67"/>
      </a:accent6>
      <a:hlink>
        <a:srgbClr val="B7F0D4"/>
      </a:hlink>
      <a:folHlink>
        <a:srgbClr val="91B6A6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ayBox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6e2e524f004108" /><Relationship Type="http://schemas.openxmlformats.org/officeDocument/2006/relationships/notesMaster" Target="/ppt/notesMasters/notesMaster1.xml" Id="R496314ee029749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48f1e64e504379" /><Relationship Type="http://schemas.openxmlformats.org/officeDocument/2006/relationships/notesMaster" Target="/ppt/notesMasters/notesMaster1.xml" Id="R969f6eb2b44146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45c79066944bca" /><Relationship Type="http://schemas.openxmlformats.org/officeDocument/2006/relationships/notesMaster" Target="/ppt/notesMasters/notesMaster1.xml" Id="R3219a9a64dea47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28ebb7404145a3" /><Relationship Type="http://schemas.openxmlformats.org/officeDocument/2006/relationships/notesMaster" Target="/ppt/notesMasters/notesMaster1.xml" Id="Rddbb71d3355349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01b2e9b1de4cc9" /><Relationship Type="http://schemas.openxmlformats.org/officeDocument/2006/relationships/notesMaster" Target="/ppt/notesMasters/notesMaster1.xml" Id="R35909c6efa5a47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050ebb87c14494" /><Relationship Type="http://schemas.openxmlformats.org/officeDocument/2006/relationships/notesMaster" Target="/ppt/notesMasters/notesMaster1.xml" Id="R69fab2e912c146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bc6cb229ec4135" /><Relationship Type="http://schemas.openxmlformats.org/officeDocument/2006/relationships/notesMaster" Target="/ppt/notesMasters/notesMaster1.xml" Id="R48f2269770764d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3a57fd14f340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0bcd28c64a4e3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d24ef80f7347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d96bc54cf841a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3fbc3b669649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36771f426c43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59C12E-A63F-47BD-B2CF-783BB9B450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9B9F2CB-3FC5-41B6-AEAB-A2F56FC84D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DFF9858-C441-440E-8D3C-F1B6629B79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D75C7C-2EEA-44F1-9E5F-AE6CA6B3F0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7241C47-8460-40D7-8F91-9E111D43CB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D3B0B8-0CEC-429B-9390-EDCC52A831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7D41F2-B5FB-4D56-89C6-523F29181C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3209CAD-E241-47B4-9FE0-BF1AA3BA28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D9B923-2FE9-493A-A3B9-F448BEB885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CC761F-11BD-4E5D-AEA4-D3A31F1536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1b4f690c2949ec" /><Relationship Type="http://schemas.openxmlformats.org/officeDocument/2006/relationships/slideLayout" Target="/ppt/slideLayouts/slideLayout1.xml" Id="R5f3a27cd3a934948" /><Relationship Type="http://schemas.openxmlformats.org/officeDocument/2006/relationships/slideLayout" Target="/ppt/slideLayouts/slideLayout2.xml" Id="R77b9ca25f9094017" /><Relationship Type="http://schemas.openxmlformats.org/officeDocument/2006/relationships/slideLayout" Target="/ppt/slideLayouts/slideLayout3.xml" Id="Rbaf26b5fcb3f464d" /><Relationship Type="http://schemas.openxmlformats.org/officeDocument/2006/relationships/slideLayout" Target="/ppt/slideLayouts/slideLayout4.xml" Id="R522427eb27e1416d" /><Relationship Type="http://schemas.openxmlformats.org/officeDocument/2006/relationships/slideLayout" Target="/ppt/slideLayouts/slideLayout5.xml" Id="R7dc36ffca4cf498b" /><Relationship Type="http://schemas.openxmlformats.org/officeDocument/2006/relationships/slideLayout" Target="/ppt/slideLayouts/slideLayout6.xml" Id="Rfd42fbfa2b8648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3a27cd3a934948"/>
    <p:sldLayoutId xmlns:r="http://schemas.openxmlformats.org/officeDocument/2006/relationships" id="2147483650" r:id="R77b9ca25f9094017"/>
    <p:sldLayoutId xmlns:r="http://schemas.openxmlformats.org/officeDocument/2006/relationships" id="2147483651" r:id="Rbaf26b5fcb3f464d"/>
    <p:sldLayoutId xmlns:r="http://schemas.openxmlformats.org/officeDocument/2006/relationships" id="2147483652" r:id="R522427eb27e1416d"/>
    <p:sldLayoutId xmlns:r="http://schemas.openxmlformats.org/officeDocument/2006/relationships" id="2147483653" r:id="R7dc36ffca4cf498b"/>
    <p:sldLayoutId xmlns:r="http://schemas.openxmlformats.org/officeDocument/2006/relationships" id="2147483654" r:id="Rfd42fbfa2b8648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6f77e7047246ee" /><Relationship Type="http://schemas.openxmlformats.org/officeDocument/2006/relationships/hyperlink" Target="https://github.com/nikitsya/PayBox" TargetMode="External" Id="Rea8bd70dc8f04d97" /><Relationship Type="http://schemas.openxmlformats.org/officeDocument/2006/relationships/notesSlide" Target="/ppt/notesSlides/notesSlide1.xml" Id="R66f8840d93224c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0c0a33ad23413a" /><Relationship Type="http://schemas.openxmlformats.org/officeDocument/2006/relationships/image" Target="/ppt/media/image.png" Id="R5408c92941eb4430" /><Relationship Type="http://schemas.openxmlformats.org/officeDocument/2006/relationships/notesSlide" Target="/ppt/notesSlides/notesSlide2.xml" Id="R2e0b6842865044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e5be1d66b44c36" /><Relationship Type="http://schemas.openxmlformats.org/officeDocument/2006/relationships/notesSlide" Target="/ppt/notesSlides/notesSlide3.xml" Id="R07e63cff36ba40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6e9495d9ea4a92" /><Relationship Type="http://schemas.openxmlformats.org/officeDocument/2006/relationships/image" Target="/ppt/media/image2.png" Id="R104c80eb8bfe4cbf" /><Relationship Type="http://schemas.openxmlformats.org/officeDocument/2006/relationships/image" Target="/ppt/media/image.svg" Id="R9ddf2b02bf064c61" /><Relationship Type="http://schemas.openxmlformats.org/officeDocument/2006/relationships/image" Target="/ppt/media/image3.png" Id="R8f0a1c0755974129" /><Relationship Type="http://schemas.openxmlformats.org/officeDocument/2006/relationships/image" Target="/ppt/media/image2.svg" Id="Reb5da10dc1084b45" /><Relationship Type="http://schemas.openxmlformats.org/officeDocument/2006/relationships/image" Target="/ppt/media/image4.png" Id="R83f381594d6046da" /><Relationship Type="http://schemas.openxmlformats.org/officeDocument/2006/relationships/image" Target="/ppt/media/image3.svg" Id="R3c03de3b25db4954" /><Relationship Type="http://schemas.openxmlformats.org/officeDocument/2006/relationships/image" Target="/ppt/media/image5.png" Id="R57842dd57ed54d5f" /><Relationship Type="http://schemas.openxmlformats.org/officeDocument/2006/relationships/image" Target="/ppt/media/image4.svg" Id="R321ec46924954101" /><Relationship Type="http://schemas.openxmlformats.org/officeDocument/2006/relationships/image" Target="/ppt/media/image.jpeg" Id="Rf9d769d730e84e61" /><Relationship Type="http://schemas.openxmlformats.org/officeDocument/2006/relationships/image" Target="/ppt/media/image6.png" Id="R01564b45cf42402e" /><Relationship Type="http://schemas.openxmlformats.org/officeDocument/2006/relationships/image" Target="/ppt/media/image2.jpeg" Id="R5a30297e53174df5" /><Relationship Type="http://schemas.openxmlformats.org/officeDocument/2006/relationships/image" Target="/ppt/media/image3.jpeg" Id="R5c3f18a6932c4005" /><Relationship Type="http://schemas.openxmlformats.org/officeDocument/2006/relationships/notesSlide" Target="/ppt/notesSlides/notesSlide4.xml" Id="Rcc10dedf57774d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7182c84ab2477b" /><Relationship Type="http://schemas.openxmlformats.org/officeDocument/2006/relationships/image" Target="/ppt/media/image7.png" Id="R5aae813b095b48d1" /><Relationship Type="http://schemas.openxmlformats.org/officeDocument/2006/relationships/notesSlide" Target="/ppt/notesSlides/notesSlide5.xml" Id="R14cfcc720fa94d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0dcf7846a24c6a" /><Relationship Type="http://schemas.openxmlformats.org/officeDocument/2006/relationships/notesSlide" Target="/ppt/notesSlides/notesSlide6.xml" Id="R1a62281201b347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731085ff704341" /><Relationship Type="http://schemas.openxmlformats.org/officeDocument/2006/relationships/notesSlide" Target="/ppt/notesSlides/notesSlide7.xml" Id="R2f99886ee8ad40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ECB4885-1A9A-41DC-9CC1-B4E89455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B7F0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B7F0D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7F0D4"/>
                </a:solidFill>
                <a:latin typeface="Arial"/>
                <a:ea typeface="Arial"/>
                <a:cs typeface="Arial"/>
              </a:rPr>
              <a:t>ICA CHECKPOINT 1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800E549-6516-4372-A0A7-3BDBA0D9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382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PayBox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D8A3C41-C7D3-4787-996F-89D3A235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952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Short-term storage.</a:t>
            </a:r>
          </a:p>
          <a:p xmlns:a="http://schemas.openxmlformats.org/drawingml/2006/main">
            <a:pPr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Access through a web app.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69CDA6F-7224-458E-9337-F5473B01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B7F0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B7F0D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7F0D4"/>
                </a:solidFill>
                <a:latin typeface="Arial"/>
                <a:ea typeface="Arial"/>
                <a:cs typeface="Arial"/>
              </a:rPr>
              <a:t>Nikita Smiichyk</a:t>
            </a:r>
            <a:endParaRPr sz="1875" b="0">
              <a:solidFill>
                <a:srgbClr val="B7F0D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07EDF40-5583-7DED-C74A-2BB8DDEC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7F0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B7F0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F0D4"/>
                </a:solidFill>
                <a:latin typeface="Arial"/>
                <a:ea typeface="Arial"/>
                <a:cs typeface="Arial"/>
                <a:hlinkClick xmlns:r="http://schemas.openxmlformats.org/officeDocument/2006/relationships" r:id="Rea8bd70dc8f04d97"/>
              </a:rPr>
              <a:t>github.com/nikitsya/PayBox</a:t>
            </a:r>
          </a:p>
        </p:txBody>
      </p:sp>
    </p:spTree>
    <p:extLst>
      <p:ext uri="{BB962C8B-B14F-4D97-AF65-F5344CB8AC3E}">
        <p14:creationId xmlns:p14="http://schemas.microsoft.com/office/powerpoint/2010/main" val="9766965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78DE4FC-A0BA-446D-B89E-45D2798F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project idea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1314C08-FA73-431B-9956-C7C57C14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048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B7F0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B7F0D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B7F0D4"/>
                </a:solidFill>
                <a:latin typeface="Arial"/>
                <a:ea typeface="Arial"/>
                <a:cs typeface="Arial"/>
              </a:rPr>
              <a:t>A locker for a day on campus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DE06E34-DA9B-4881-B048-B4CBC81B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student visiting campus needs somewhere to leave a bag or personal belongings for a few hours without a long-term rental.</a:t>
            </a:r>
          </a:p>
        </p:txBody>
      </p:sp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821A6D1C-A936-4BF4-B944-9CBB186C02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8c92941eb443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69260" y="0"/>
            <a:ext cx="682274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0177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E3D8CC44-EB35-858B-8481-A81B2BC2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planned rental journey</a:t>
            </a:r>
          </a:p>
        </p:txBody>
      </p:sp>
      <p:sp>
        <p:nvSpPr>
          <p:cNvPr id="44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291C5769-8440-49E7-86D3-D0E19999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B7F0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B7F0D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7F0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5" name="step-heading-0">
            <a:extLst xmlns:a="http://schemas.openxmlformats.org/drawingml/2006/main">
              <a:ext uri="{FF2B5EF4-FFF2-40B4-BE49-F238E27FC236}">
                <a16:creationId xmlns:a16="http://schemas.microsoft.com/office/drawing/2014/main" id="{8406B3B3-EEB4-4296-BB18-FCC0FB7D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81150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7F0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B7F0D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7F0D4"/>
                </a:solidFill>
                <a:latin typeface="Arial"/>
                <a:ea typeface="Arial"/>
                <a:cs typeface="Arial"/>
              </a:rPr>
              <a:t>Choose and reserve</a:t>
            </a:r>
          </a:p>
        </p:txBody>
      </p:sp>
      <p:sp>
        <p:nvSpPr>
          <p:cNvPr id="46" name="step-description-0">
            <a:extLst xmlns:a="http://schemas.openxmlformats.org/drawingml/2006/main">
              <a:ext uri="{FF2B5EF4-FFF2-40B4-BE49-F238E27FC236}">
                <a16:creationId xmlns:a16="http://schemas.microsoft.com/office/drawing/2014/main" id="{82693BF1-2FC0-4374-B9D6-CC3C557C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57400"/>
            <a:ext cx="998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 in, check availability and view the rental end time.</a:t>
            </a:r>
          </a:p>
        </p:txBody>
      </p:sp>
      <p:sp>
        <p:nvSpPr>
          <p:cNvPr id="4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EA3C94F2-BC07-4A9E-873D-0D4C630A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B7F0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B7F0D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7F0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8" name="step-heading-1">
            <a:extLst xmlns:a="http://schemas.openxmlformats.org/drawingml/2006/main">
              <a:ext uri="{FF2B5EF4-FFF2-40B4-BE49-F238E27FC236}">
                <a16:creationId xmlns:a16="http://schemas.microsoft.com/office/drawing/2014/main" id="{7D56DF43-31E2-4804-AA1B-FCCA2529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62250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7F0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B7F0D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7F0D4"/>
                </a:solidFill>
                <a:latin typeface="Arial"/>
                <a:ea typeface="Arial"/>
                <a:cs typeface="Arial"/>
              </a:rPr>
              <a:t>Pay in test mode</a:t>
            </a:r>
          </a:p>
        </p:txBody>
      </p:sp>
      <p:sp>
        <p:nvSpPr>
          <p:cNvPr id="49" name="step-description-1">
            <a:extLst xmlns:a="http://schemas.openxmlformats.org/drawingml/2006/main">
              <a:ext uri="{FF2B5EF4-FFF2-40B4-BE49-F238E27FC236}">
                <a16:creationId xmlns:a16="http://schemas.microsoft.com/office/drawing/2014/main" id="{123E8BAC-36DA-4EC4-84EF-650D8C79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38500"/>
            <a:ext cx="998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server verifies the Stripe payment notification.</a:t>
            </a:r>
          </a:p>
        </p:txBody>
      </p:sp>
      <p:sp>
        <p:nvSpPr>
          <p:cNvPr id="50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13CE4316-24EB-456A-9904-87163171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B7F0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B7F0D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7F0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1" name="step-heading-2">
            <a:extLst xmlns:a="http://schemas.openxmlformats.org/drawingml/2006/main">
              <a:ext uri="{FF2B5EF4-FFF2-40B4-BE49-F238E27FC236}">
                <a16:creationId xmlns:a16="http://schemas.microsoft.com/office/drawing/2014/main" id="{055B3949-8C41-4D84-97DA-02C8F938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7F0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B7F0D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7F0D4"/>
                </a:solidFill>
                <a:latin typeface="Arial"/>
                <a:ea typeface="Arial"/>
                <a:cs typeface="Arial"/>
              </a:rPr>
              <a:t>Open the locker</a:t>
            </a:r>
          </a:p>
        </p:txBody>
      </p:sp>
      <p:sp>
        <p:nvSpPr>
          <p:cNvPr id="52" name="step-description-2">
            <a:extLst xmlns:a="http://schemas.openxmlformats.org/drawingml/2006/main">
              <a:ext uri="{FF2B5EF4-FFF2-40B4-BE49-F238E27FC236}">
                <a16:creationId xmlns:a16="http://schemas.microsoft.com/office/drawing/2014/main" id="{E7C12AA3-5A75-40C0-97BB-EEDD1C07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998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Raspberry Pi receives an authorised unlock request.</a:t>
            </a:r>
          </a:p>
        </p:txBody>
      </p:sp>
      <p:sp>
        <p:nvSpPr>
          <p:cNvPr id="53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1873B1FC-645B-49CB-9B39-6FBA1327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B7F0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B7F0D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7F0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4" name="step-heading-3">
            <a:extLst xmlns:a="http://schemas.openxmlformats.org/drawingml/2006/main">
              <a:ext uri="{FF2B5EF4-FFF2-40B4-BE49-F238E27FC236}">
                <a16:creationId xmlns:a16="http://schemas.microsoft.com/office/drawing/2014/main" id="{25DB0F29-9471-42FE-A4A4-1AE54B23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24450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7F0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B7F0D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7F0D4"/>
                </a:solidFill>
                <a:latin typeface="Arial"/>
                <a:ea typeface="Arial"/>
                <a:cs typeface="Arial"/>
              </a:rPr>
              <a:t>Retrieve and finish</a:t>
            </a:r>
          </a:p>
        </p:txBody>
      </p:sp>
      <p:sp>
        <p:nvSpPr>
          <p:cNvPr id="55" name="step-description-3">
            <a:extLst xmlns:a="http://schemas.openxmlformats.org/drawingml/2006/main">
              <a:ext uri="{FF2B5EF4-FFF2-40B4-BE49-F238E27FC236}">
                <a16:creationId xmlns:a16="http://schemas.microsoft.com/office/drawing/2014/main" id="{0A0ED5EE-EC6F-4AA6-8A17-AEDF1848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00700"/>
            <a:ext cx="998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Reopen during the rental, then empty and close the locker.</a:t>
            </a:r>
          </a:p>
        </p:txBody>
      </p:sp>
    </p:spTree>
    <p:extLst>
      <p:ext uri="{BB962C8B-B14F-4D97-AF65-F5344CB8AC3E}">
        <p14:creationId xmlns:p14="http://schemas.microsoft.com/office/powerpoint/2010/main" val="7047203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A75738C-CC4C-4172-8CA8-8BB507DB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Hardware and sensor availability</a:t>
            </a:r>
          </a:p>
        </p:txBody>
      </p:sp>
      <p:graphicFrame>
        <p:nvGraphicFramePr>
          <p:cNvPr id="3" name="Table 2">
            <a:extLst xmlns:a="http://schemas.openxmlformats.org/drawingml/2006/main">
              <a:ext uri="{FF2B5EF4-FFF2-40B4-BE49-F238E27FC236}">
                <a16:creationId xmlns:a16="http://schemas.microsoft.com/office/drawing/2014/main" id="{AFFC0372-C252-43F5-B92C-4290A6267EC6}"/>
              </a:ext>
            </a:extLst>
          </p:cNvPr>
          <p:cNvGraphicFramePr/>
          <p:nvPr/>
        </p:nvGraphicFramePr>
        <p:xfrm>
          <a:off xmlns:a="http://schemas.openxmlformats.org/drawingml/2006/main" x="685800" y="1447800"/>
          <a:ext xmlns:a="http://schemas.openxmlformats.org/drawingml/2006/main" cx="10820400" cy="47815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>
                <a:tableStyleId>{5C22544A-7EE6-4342-B048-85BDC9FD1C3A}</a:tableStyleId>
              </a:tblPr>
              <a:tblGrid>
                <a:gridCol w="3939209"/>
                <a:gridCol w="2994991"/>
                <a:gridCol w="3886200"/>
              </a:tblGrid>
              <a:tr h="514350">
                <a:tc>
                  <a:txBody>
                    <a:bodyPr wrap="square" lIns="190500" tIns="76200" rIns="152400" bIns="7620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5DE"/>
                      </a:solidFill>
                      <a:prstDash val="solid"/>
                    </a:lnL>
                    <a:lnR w="7620">
                      <a:solidFill>
                        <a:srgbClr val="D6E5DE"/>
                      </a:solidFill>
                      <a:prstDash val="solid"/>
                    </a:lnR>
                    <a:lnT w="7620">
                      <a:solidFill>
                        <a:srgbClr val="D6E5DE"/>
                      </a:solidFill>
                      <a:prstDash val="solid"/>
                    </a:lnT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B7F0D4"/>
                    </a:solidFill>
                  </a:tcPr>
                </a:tc>
                <a:tc>
                  <a:txBody>
                    <a:bodyPr wrap="square" lIns="190500" tIns="76200" rIns="152400" bIns="7620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 anchor="ctr">
                    <a:lnL w="7620" cmpd="sng">
                      <a:solidFill>
                        <a:srgbClr val="D6E5DE"/>
                      </a:solidFill>
                      <a:prstDash val="solid"/>
                    </a:lnL>
                    <a:lnR w="7620">
                      <a:solidFill>
                        <a:srgbClr val="D6E5DE"/>
                      </a:solidFill>
                      <a:prstDash val="solid"/>
                    </a:lnR>
                    <a:lnT w="7620">
                      <a:solidFill>
                        <a:srgbClr val="D6E5DE"/>
                      </a:solidFill>
                      <a:prstDash val="solid"/>
                    </a:lnT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B7F0D4"/>
                    </a:solidFill>
                  </a:tcPr>
                </a:tc>
                <a:tc>
                  <a:txBody>
                    <a:bodyPr wrap="square" lIns="190500" tIns="76200" rIns="152400" bIns="7620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Current status</a:t>
                      </a:r>
                    </a:p>
                  </a:txBody>
                  <a:tcPr marL="91440" marR="91440" marT="45720" marB="45720" anchor="ctr">
                    <a:lnL w="7620" cmpd="sng">
                      <a:solidFill>
                        <a:srgbClr val="D6E5DE"/>
                      </a:solidFill>
                      <a:prstDash val="solid"/>
                    </a:lnL>
                    <a:lnR w="7620">
                      <a:solidFill>
                        <a:srgbClr val="D6E5DE"/>
                      </a:solidFill>
                      <a:prstDash val="solid"/>
                    </a:lnR>
                    <a:lnT w="7620">
                      <a:solidFill>
                        <a:srgbClr val="D6E5DE"/>
                      </a:solidFill>
                      <a:prstDash val="solid"/>
                    </a:lnT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B7F0D4"/>
                    </a:solidFill>
                  </a:tcPr>
                </a:tc>
              </a:tr>
              <a:tr h="1066800">
                <a:tc>
                  <a:txBody>
                    <a:bodyPr wrap="square" lIns="190500" tIns="76200" rIns="152400" bIns="7620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Raspberry Pi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5DE"/>
                      </a:solidFill>
                      <a:prstDash val="solid"/>
                    </a:lnL>
                    <a:lnR w="7620">
                      <a:solidFill>
                        <a:srgbClr val="D6E5DE"/>
                      </a:solidFill>
                      <a:prstDash val="solid"/>
                    </a:lnR>
                    <a:lnT w="7620" cmpd="sng">
                      <a:solidFill>
                        <a:srgbClr val="D6E5DE"/>
                      </a:solidFill>
                      <a:prstDash val="solid"/>
                    </a:lnT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EFF7F3"/>
                    </a:solidFill>
                  </a:tcPr>
                </a:tc>
                <a:tc>
                  <a:txBody>
                    <a:bodyPr wrap="square" lIns="190500" tIns="76200" rIns="152400" bIns="7620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Device controller</a:t>
                      </a:r>
                    </a:p>
                  </a:txBody>
                  <a:tcPr marL="91440" marR="91440" marT="45720" marB="45720" anchor="ctr">
                    <a:lnL w="7620" cmpd="sng">
                      <a:solidFill>
                        <a:srgbClr val="D6E5DE"/>
                      </a:solidFill>
                      <a:prstDash val="solid"/>
                    </a:lnL>
                    <a:lnR w="7620">
                      <a:solidFill>
                        <a:srgbClr val="D6E5DE"/>
                      </a:solidFill>
                      <a:prstDash val="solid"/>
                    </a:lnR>
                    <a:lnT w="7620" cmpd="sng">
                      <a:solidFill>
                        <a:srgbClr val="D6E5DE"/>
                      </a:solidFill>
                      <a:prstDash val="solid"/>
                    </a:lnT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EFF7F3"/>
                    </a:solidFill>
                  </a:tcPr>
                </a:tc>
                <a:tc>
                  <a:txBody>
                    <a:bodyPr wrap="square" lIns="190500" tIns="76200" rIns="152400" bIns="7620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Available</a:t>
                      </a:r>
                    </a:p>
                  </a:txBody>
                  <a:tcPr marL="91440" marR="91440" marT="45720" marB="45720" anchor="ctr">
                    <a:lnL w="7620" cmpd="sng">
                      <a:solidFill>
                        <a:srgbClr val="D6E5DE"/>
                      </a:solidFill>
                      <a:prstDash val="solid"/>
                    </a:lnL>
                    <a:lnR w="7620">
                      <a:solidFill>
                        <a:srgbClr val="D6E5DE"/>
                      </a:solidFill>
                      <a:prstDash val="solid"/>
                    </a:lnR>
                    <a:lnT w="7620" cmpd="sng">
                      <a:solidFill>
                        <a:srgbClr val="D6E5DE"/>
                      </a:solidFill>
                      <a:prstDash val="solid"/>
                    </a:lnT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EFF7F3"/>
                    </a:solidFill>
                  </a:tcPr>
                </a:tc>
              </a:tr>
              <a:tr h="1066800">
                <a:tc>
                  <a:txBody>
                    <a:bodyPr wrap="square" lIns="190500" tIns="76200" rIns="152400" bIns="7620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Breadboard and</a:t>
                      </a:r>
                      <a:br>
                        <a:rPr sz="1725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</a:br>
                      <a:r>
                        <a:rPr sz="1725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jumper wires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5DE"/>
                      </a:solidFill>
                      <a:prstDash val="solid"/>
                    </a:lnL>
                    <a:lnR w="7620">
                      <a:solidFill>
                        <a:srgbClr val="D6E5DE"/>
                      </a:solidFill>
                      <a:prstDash val="solid"/>
                    </a:lnR>
                    <a:lnT w="7620" cmpd="sng">
                      <a:solidFill>
                        <a:srgbClr val="D6E5DE"/>
                      </a:solidFill>
                      <a:prstDash val="solid"/>
                    </a:lnT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76200" rIns="152400" bIns="7620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Circuit connections</a:t>
                      </a:r>
                    </a:p>
                  </a:txBody>
                  <a:tcPr marL="91440" marR="91440" marT="45720" marB="45720" anchor="ctr">
                    <a:lnL w="7620" cmpd="sng">
                      <a:solidFill>
                        <a:srgbClr val="D6E5DE"/>
                      </a:solidFill>
                      <a:prstDash val="solid"/>
                    </a:lnL>
                    <a:lnR w="7620">
                      <a:solidFill>
                        <a:srgbClr val="D6E5DE"/>
                      </a:solidFill>
                      <a:prstDash val="solid"/>
                    </a:lnR>
                    <a:lnT w="7620" cmpd="sng">
                      <a:solidFill>
                        <a:srgbClr val="D6E5DE"/>
                      </a:solidFill>
                      <a:prstDash val="solid"/>
                    </a:lnT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76200" rIns="152400" bIns="7620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Available</a:t>
                      </a:r>
                    </a:p>
                  </a:txBody>
                  <a:tcPr marL="91440" marR="91440" marT="45720" marB="45720" anchor="ctr">
                    <a:lnL w="7620" cmpd="sng">
                      <a:solidFill>
                        <a:srgbClr val="D6E5DE"/>
                      </a:solidFill>
                      <a:prstDash val="solid"/>
                    </a:lnL>
                    <a:lnR w="7620">
                      <a:solidFill>
                        <a:srgbClr val="D6E5DE"/>
                      </a:solidFill>
                      <a:prstDash val="solid"/>
                    </a:lnR>
                    <a:lnT w="7620" cmpd="sng">
                      <a:solidFill>
                        <a:srgbClr val="D6E5DE"/>
                      </a:solidFill>
                      <a:prstDash val="solid"/>
                    </a:lnT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wrap="square" lIns="190500" tIns="76200" rIns="152400" bIns="7620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Servo motor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5DE"/>
                      </a:solidFill>
                      <a:prstDash val="solid"/>
                    </a:lnL>
                    <a:lnR w="7620">
                      <a:solidFill>
                        <a:srgbClr val="D6E5DE"/>
                      </a:solidFill>
                      <a:prstDash val="solid"/>
                    </a:lnR>
                    <a:lnT w="7620" cmpd="sng">
                      <a:solidFill>
                        <a:srgbClr val="D6E5DE"/>
                      </a:solidFill>
                      <a:prstDash val="solid"/>
                    </a:lnT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EFF7F3"/>
                    </a:solidFill>
                  </a:tcPr>
                </a:tc>
                <a:tc>
                  <a:txBody>
                    <a:bodyPr wrap="square" lIns="190500" tIns="76200" rIns="152400" bIns="7620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Moves the latch</a:t>
                      </a:r>
                    </a:p>
                  </a:txBody>
                  <a:tcPr marL="91440" marR="91440" marT="45720" marB="45720" anchor="ctr">
                    <a:lnL w="7620" cmpd="sng">
                      <a:solidFill>
                        <a:srgbClr val="D6E5DE"/>
                      </a:solidFill>
                      <a:prstDash val="solid"/>
                    </a:lnL>
                    <a:lnR w="7620">
                      <a:solidFill>
                        <a:srgbClr val="D6E5DE"/>
                      </a:solidFill>
                      <a:prstDash val="solid"/>
                    </a:lnR>
                    <a:lnT w="7620" cmpd="sng">
                      <a:solidFill>
                        <a:srgbClr val="D6E5DE"/>
                      </a:solidFill>
                      <a:prstDash val="solid"/>
                    </a:lnT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EFF7F3"/>
                    </a:solidFill>
                  </a:tcPr>
                </a:tc>
                <a:tc>
                  <a:txBody>
                    <a:bodyPr wrap="square" lIns="190500" tIns="76200" rIns="152400" bIns="7620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Ordered</a:t>
                      </a:r>
                    </a:p>
                  </a:txBody>
                  <a:tcPr marL="91440" marR="91440" marT="45720" marB="45720" anchor="ctr">
                    <a:lnL w="7620" cmpd="sng">
                      <a:solidFill>
                        <a:srgbClr val="D6E5DE"/>
                      </a:solidFill>
                      <a:prstDash val="solid"/>
                    </a:lnL>
                    <a:lnR w="7620">
                      <a:solidFill>
                        <a:srgbClr val="D6E5DE"/>
                      </a:solidFill>
                      <a:prstDash val="solid"/>
                    </a:lnR>
                    <a:lnT w="7620" cmpd="sng">
                      <a:solidFill>
                        <a:srgbClr val="D6E5DE"/>
                      </a:solidFill>
                      <a:prstDash val="solid"/>
                    </a:lnT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EFF7F3"/>
                    </a:solidFill>
                  </a:tcPr>
                </a:tc>
              </a:tr>
              <a:tr h="1066800">
                <a:tc>
                  <a:txBody>
                    <a:bodyPr wrap="square" lIns="190500" tIns="76200" rIns="152400" bIns="7620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Door contact</a:t>
                      </a:r>
                      <a:br>
                        <a:rPr sz="1725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</a:br>
                      <a:r>
                        <a:rPr sz="1725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sensor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5DE"/>
                      </a:solidFill>
                      <a:prstDash val="solid"/>
                    </a:lnL>
                    <a:lnR w="7620">
                      <a:solidFill>
                        <a:srgbClr val="D6E5DE"/>
                      </a:solidFill>
                      <a:prstDash val="solid"/>
                    </a:lnR>
                    <a:lnT w="7620" cmpd="sng">
                      <a:solidFill>
                        <a:srgbClr val="D6E5DE"/>
                      </a:solidFill>
                      <a:prstDash val="solid"/>
                    </a:lnT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76200" rIns="152400" bIns="7620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Reports open or closed</a:t>
                      </a:r>
                    </a:p>
                  </a:txBody>
                  <a:tcPr marL="91440" marR="91440" marT="45720" marB="45720" anchor="ctr">
                    <a:lnL w="7620" cmpd="sng">
                      <a:solidFill>
                        <a:srgbClr val="D6E5DE"/>
                      </a:solidFill>
                      <a:prstDash val="solid"/>
                    </a:lnL>
                    <a:lnR w="7620">
                      <a:solidFill>
                        <a:srgbClr val="D6E5DE"/>
                      </a:solidFill>
                      <a:prstDash val="solid"/>
                    </a:lnR>
                    <a:lnT w="7620" cmpd="sng">
                      <a:solidFill>
                        <a:srgbClr val="D6E5DE"/>
                      </a:solidFill>
                      <a:prstDash val="solid"/>
                    </a:lnT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76200" rIns="152400" bIns="7620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Ordered</a:t>
                      </a:r>
                    </a:p>
                  </a:txBody>
                  <a:tcPr marL="91440" marR="91440" marT="45720" marB="45720" anchor="ctr">
                    <a:lnL w="7620" cmpd="sng">
                      <a:solidFill>
                        <a:srgbClr val="D6E5DE"/>
                      </a:solidFill>
                      <a:prstDash val="solid"/>
                    </a:lnL>
                    <a:lnR w="7620">
                      <a:solidFill>
                        <a:srgbClr val="D6E5DE"/>
                      </a:solidFill>
                      <a:prstDash val="solid"/>
                    </a:lnR>
                    <a:lnT w="7620" cmpd="sng">
                      <a:solidFill>
                        <a:srgbClr val="D6E5DE"/>
                      </a:solidFill>
                      <a:prstDash val="solid"/>
                    </a:lnT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Graphic 6">
            <a:extLst xmlns:a="http://schemas.openxmlformats.org/drawingml/2006/main">
              <a:ext uri="{FF2B5EF4-FFF2-40B4-BE49-F238E27FC236}">
                <a16:creationId xmlns:a16="http://schemas.microsoft.com/office/drawing/2014/main" id="{2643226C-1D6F-4322-BCCA-323A6DA80A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c80eb8bfe4cbf">
            <a:extLst>
              <a:ext uri="{96DAC541-7B7A-43D3-8B79-37D633B846F1}">
                <asvg:svgBlip xmlns:asvg="http://schemas.microsoft.com/office/drawing/2016/SVG/main" r:embed="R9ddf2b02bf064c6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9450" y="2286000"/>
            <a:ext cx="419100" cy="419100"/>
          </a:xfrm>
          <a:prstGeom xmlns:a="http://schemas.openxmlformats.org/drawingml/2006/main" prst="rect">
            <a:avLst/>
          </a:prstGeom>
        </p:spPr>
      </p:pic>
      <p:pic>
        <p:nvPicPr>
          <p:cNvPr id="8" name="Graphic 7">
            <a:extLst xmlns:a="http://schemas.openxmlformats.org/drawingml/2006/main">
              <a:ext uri="{FF2B5EF4-FFF2-40B4-BE49-F238E27FC236}">
                <a16:creationId xmlns:a16="http://schemas.microsoft.com/office/drawing/2014/main" id="{71B958C6-EF26-472F-A0A9-23DDABBB9F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a1c0755974129">
            <a:extLst>
              <a:ext uri="{96DAC541-7B7A-43D3-8B79-37D633B846F1}">
                <asvg:svgBlip xmlns:asvg="http://schemas.microsoft.com/office/drawing/2016/SVG/main" r:embed="Reb5da10dc1084b4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9450" y="3352800"/>
            <a:ext cx="419100" cy="419100"/>
          </a:xfrm>
          <a:prstGeom xmlns:a="http://schemas.openxmlformats.org/drawingml/2006/main" prst="rect">
            <a:avLst/>
          </a:prstGeom>
        </p:spPr>
      </p:pic>
      <p:pic>
        <p:nvPicPr>
          <p:cNvPr id="10" name="Graphic 9">
            <a:extLst xmlns:a="http://schemas.openxmlformats.org/drawingml/2006/main">
              <a:ext uri="{FF2B5EF4-FFF2-40B4-BE49-F238E27FC236}">
                <a16:creationId xmlns:a16="http://schemas.microsoft.com/office/drawing/2014/main" id="{14A6BFDD-7397-4ED3-B81A-22DA3260B5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381594d6046da">
            <a:extLst>
              <a:ext uri="{96DAC541-7B7A-43D3-8B79-37D633B846F1}">
                <asvg:svgBlip xmlns:asvg="http://schemas.microsoft.com/office/drawing/2016/SVG/main" r:embed="R3c03de3b25db495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9450" y="4419600"/>
            <a:ext cx="419100" cy="419100"/>
          </a:xfrm>
          <a:prstGeom xmlns:a="http://schemas.openxmlformats.org/drawingml/2006/main" prst="rect">
            <a:avLst/>
          </a:prstGeom>
        </p:spPr>
      </p:pic>
      <p:pic>
        <p:nvPicPr>
          <p:cNvPr id="11" name="Graphic 10">
            <a:extLst xmlns:a="http://schemas.openxmlformats.org/drawingml/2006/main">
              <a:ext uri="{FF2B5EF4-FFF2-40B4-BE49-F238E27FC236}">
                <a16:creationId xmlns:a16="http://schemas.microsoft.com/office/drawing/2014/main" id="{B292396D-A663-4242-A3D7-B16BF5A5CC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842dd57ed54d5f">
            <a:extLst>
              <a:ext uri="{96DAC541-7B7A-43D3-8B79-37D633B846F1}">
                <asvg:svgBlip xmlns:asvg="http://schemas.microsoft.com/office/drawing/2016/SVG/main" r:embed="R321ec4692495410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9450" y="5486400"/>
            <a:ext cx="419100" cy="419100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72911E15-7DAD-4B61-8295-CFCA71DAC9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769d730e84e61"/>
          <a:srcRect xmlns:a="http://schemas.openxmlformats.org/drawingml/2006/main" l="0" t="115" r="0" b="1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4057" y="2186511"/>
            <a:ext cx="1575435" cy="618077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0BC7220E-18AF-49D7-BA97-A264EB054D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64b45cf42402e"/>
          <a:srcRect xmlns:a="http://schemas.openxmlformats.org/drawingml/2006/main" l="1" t="0" r="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8306" y="3133725"/>
            <a:ext cx="957072" cy="857250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764B9935-E335-4307-973B-47AF50399C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0297e53174d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8306" y="4190190"/>
            <a:ext cx="877919" cy="877919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46FCF655-6878-4DB2-9DD5-474A1F9285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f18a6932c4005"/>
          <a:srcRect xmlns:a="http://schemas.openxmlformats.org/drawingml/2006/main" l="0" t="87" r="0" b="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4057" y="5345049"/>
            <a:ext cx="1575435" cy="70180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7520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E0F22AE-048E-E5BC-A3C6-424D6271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Prototype Concept</a:t>
            </a:r>
            <a:endParaRPr sz="3300" b="1">
              <a:solidFill>
                <a:srgbClr val="173B35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BE56D623-0CE6-49E2-8DA8-3A2AD9D5EA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e813b095b48d1"/>
          <a:srcRect xmlns:a="http://schemas.openxmlformats.org/drawingml/2006/main" l="0" t="53" r="0" b="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52600" y="1447800"/>
            <a:ext cx="8686800" cy="48837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468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C8B480C-D6F6-88F2-F2E0-6A0BD635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Planned technology stack</a:t>
            </a:r>
            <a:endParaRPr sz="3300" b="1">
              <a:solidFill>
                <a:srgbClr val="173B35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" name="Table 1">
            <a:extLst xmlns:a="http://schemas.openxmlformats.org/drawingml/2006/main">
              <a:ext uri="{FF2B5EF4-FFF2-40B4-BE49-F238E27FC236}">
                <a16:creationId xmlns:a16="http://schemas.microsoft.com/office/drawing/2014/main" id="{83FEDA2F-6418-4619-87DD-0CBCAF09A59E}"/>
              </a:ext>
            </a:extLst>
          </p:cNvPr>
          <p:cNvGraphicFramePr/>
          <p:nvPr/>
        </p:nvGraphicFramePr>
        <p:xfrm>
          <a:off xmlns:a="http://schemas.openxmlformats.org/drawingml/2006/main" x="685800" y="1447800"/>
          <a:ext xmlns:a="http://schemas.openxmlformats.org/drawingml/2006/main" cx="10820400" cy="49339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>
                <a:tableStyleId>{5C22544A-7EE6-4342-B048-85BDC9FD1C3A}</a:tableStyleId>
              </a:tblPr>
              <a:tblGrid>
                <a:gridCol w="2000250"/>
                <a:gridCol w="3571875"/>
                <a:gridCol w="5248275"/>
              </a:tblGrid>
              <a:tr h="476250"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84783" marR="84783" marT="39131" marB="39131" anchor="ctr">
                    <a:lnL w="7620">
                      <a:solidFill>
                        <a:srgbClr val="D6E5DE"/>
                      </a:solidFill>
                      <a:prstDash val="solid"/>
                    </a:lnL>
                    <a:lnR w="7620">
                      <a:solidFill>
                        <a:srgbClr val="D6E5DE"/>
                      </a:solidFill>
                      <a:prstDash val="solid"/>
                    </a:lnR>
                    <a:lnT w="7620">
                      <a:solidFill>
                        <a:srgbClr val="D6E5DE"/>
                      </a:solidFill>
                      <a:prstDash val="solid"/>
                    </a:lnT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B7F0D4"/>
                    </a:solidFill>
                  </a:tcPr>
                </a:tc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Proposed technology</a:t>
                      </a:r>
                    </a:p>
                  </a:txBody>
                  <a:tcPr marL="84783" marR="84783" marT="39131" marB="39131" anchor="ctr">
                    <a:lnR w="7620">
                      <a:solidFill>
                        <a:srgbClr val="D6E5DE"/>
                      </a:solidFill>
                      <a:prstDash val="solid"/>
                    </a:lnR>
                    <a:lnT w="7620">
                      <a:solidFill>
                        <a:srgbClr val="D6E5DE"/>
                      </a:solidFill>
                      <a:prstDash val="solid"/>
                    </a:lnT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B7F0D4"/>
                    </a:solidFill>
                  </a:tcPr>
                </a:tc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Responsibility</a:t>
                      </a:r>
                    </a:p>
                  </a:txBody>
                  <a:tcPr marL="84783" marR="84783" marT="39131" marB="39131" anchor="ctr">
                    <a:lnR w="7620">
                      <a:solidFill>
                        <a:srgbClr val="D6E5DE"/>
                      </a:solidFill>
                      <a:prstDash val="solid"/>
                    </a:lnR>
                    <a:lnT w="7620">
                      <a:solidFill>
                        <a:srgbClr val="D6E5DE"/>
                      </a:solidFill>
                      <a:prstDash val="solid"/>
                    </a:lnT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B7F0D4"/>
                    </a:solidFill>
                  </a:tcPr>
                </a:tc>
              </a:tr>
              <a:tr h="495300"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Frontend</a:t>
                      </a:r>
                    </a:p>
                  </a:txBody>
                  <a:tcPr marL="84783" marR="84783" marT="39131" marB="39131" anchor="ctr">
                    <a:lnL w="7620">
                      <a:solidFill>
                        <a:srgbClr val="D6E5DE"/>
                      </a:solidFill>
                      <a:prstDash val="solid"/>
                    </a:lnL>
                    <a:lnR w="7620">
                      <a:solidFill>
                        <a:srgbClr val="D6E5DE"/>
                      </a:solidFill>
                      <a:prstDash val="solid"/>
                    </a:lnR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EFF7F3"/>
                    </a:solidFill>
                  </a:tcPr>
                </a:tc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Flask templates, HTML, CSS, JavaScript</a:t>
                      </a:r>
                    </a:p>
                  </a:txBody>
                  <a:tcPr marL="84783" marR="84783" marT="39131" marB="39131" anchor="ctr">
                    <a:lnR w="7620">
                      <a:solidFill>
                        <a:srgbClr val="D6E5DE"/>
                      </a:solidFill>
                      <a:prstDash val="solid"/>
                    </a:lnR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EFF7F3"/>
                    </a:solidFill>
                  </a:tcPr>
                </a:tc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Accessible rental and account pages</a:t>
                      </a:r>
                    </a:p>
                  </a:txBody>
                  <a:tcPr marL="84783" marR="84783" marT="39131" marB="39131" anchor="ctr">
                    <a:lnR w="7620">
                      <a:solidFill>
                        <a:srgbClr val="D6E5DE"/>
                      </a:solidFill>
                      <a:prstDash val="solid"/>
                    </a:lnR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EFF7F3"/>
                    </a:solidFill>
                  </a:tcPr>
                </a:tc>
              </a:tr>
              <a:tr h="495300"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Backend</a:t>
                      </a:r>
                    </a:p>
                  </a:txBody>
                  <a:tcPr marL="84783" marR="84783" marT="39131" marB="39131" anchor="ctr">
                    <a:lnL w="7620">
                      <a:solidFill>
                        <a:srgbClr val="D6E5DE"/>
                      </a:solidFill>
                      <a:prstDash val="solid"/>
                    </a:lnL>
                    <a:lnR w="7620">
                      <a:solidFill>
                        <a:srgbClr val="D6E5DE"/>
                      </a:solidFill>
                      <a:prstDash val="solid"/>
                    </a:lnR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Python and Flask</a:t>
                      </a:r>
                    </a:p>
                  </a:txBody>
                  <a:tcPr marL="84783" marR="84783" marT="39131" marB="39131" anchor="ctr">
                    <a:lnR w="7620">
                      <a:solidFill>
                        <a:srgbClr val="D6E5DE"/>
                      </a:solidFill>
                      <a:prstDash val="solid"/>
                    </a:lnR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Authentication, rental rules, payment processing, device commands</a:t>
                      </a:r>
                    </a:p>
                  </a:txBody>
                  <a:tcPr marL="84783" marR="84783" marT="39131" marB="39131" anchor="ctr">
                    <a:lnR w="7620">
                      <a:solidFill>
                        <a:srgbClr val="D6E5DE"/>
                      </a:solidFill>
                      <a:prstDash val="solid"/>
                    </a:lnR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Database</a:t>
                      </a:r>
                    </a:p>
                  </a:txBody>
                  <a:tcPr marL="84783" marR="84783" marT="39131" marB="39131" anchor="ctr">
                    <a:lnL w="7620">
                      <a:solidFill>
                        <a:srgbClr val="D6E5DE"/>
                      </a:solidFill>
                      <a:prstDash val="solid"/>
                    </a:lnL>
                    <a:lnR w="7620">
                      <a:solidFill>
                        <a:srgbClr val="D6E5DE"/>
                      </a:solidFill>
                      <a:prstDash val="solid"/>
                    </a:lnR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EFF7F3"/>
                    </a:solidFill>
                  </a:tcPr>
                </a:tc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PostgreSQL</a:t>
                      </a:r>
                    </a:p>
                  </a:txBody>
                  <a:tcPr marL="84783" marR="84783" marT="39131" marB="39131" anchor="ctr">
                    <a:lnR w="7620">
                      <a:solidFill>
                        <a:srgbClr val="D6E5DE"/>
                      </a:solidFill>
                      <a:prstDash val="solid"/>
                    </a:lnR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EFF7F3"/>
                    </a:solidFill>
                  </a:tcPr>
                </a:tc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Users, lockers, rentals, payment records, device events</a:t>
                      </a:r>
                    </a:p>
                  </a:txBody>
                  <a:tcPr marL="84783" marR="84783" marT="39131" marB="39131" anchor="ctr">
                    <a:lnR w="7620">
                      <a:solidFill>
                        <a:srgbClr val="D6E5DE"/>
                      </a:solidFill>
                      <a:prstDash val="solid"/>
                    </a:lnR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EFF7F3"/>
                    </a:solidFill>
                  </a:tcPr>
                </a:tc>
              </a:tr>
              <a:tr h="495300"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Payments</a:t>
                      </a:r>
                    </a:p>
                  </a:txBody>
                  <a:tcPr marL="84783" marR="84783" marT="39131" marB="39131" anchor="ctr">
                    <a:lnL w="7620">
                      <a:solidFill>
                        <a:srgbClr val="D6E5DE"/>
                      </a:solidFill>
                      <a:prstDash val="solid"/>
                    </a:lnL>
                    <a:lnR w="7620">
                      <a:solidFill>
                        <a:srgbClr val="D6E5DE"/>
                      </a:solidFill>
                      <a:prstDash val="solid"/>
                    </a:lnR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Stripe test environment</a:t>
                      </a:r>
                    </a:p>
                  </a:txBody>
                  <a:tcPr marL="84783" marR="84783" marT="39131" marB="39131" anchor="ctr">
                    <a:lnR w="7620">
                      <a:solidFill>
                        <a:srgbClr val="D6E5DE"/>
                      </a:solidFill>
                      <a:prstDash val="solid"/>
                    </a:lnR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Simulated checkout and payment notifications</a:t>
                      </a:r>
                    </a:p>
                  </a:txBody>
                  <a:tcPr marL="84783" marR="84783" marT="39131" marB="39131" anchor="ctr">
                    <a:lnR w="7620">
                      <a:solidFill>
                        <a:srgbClr val="D6E5DE"/>
                      </a:solidFill>
                      <a:prstDash val="solid"/>
                    </a:lnR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Device messaging</a:t>
                      </a:r>
                    </a:p>
                  </a:txBody>
                  <a:tcPr marL="84783" marR="84783" marT="39131" marB="39131" anchor="ctr">
                    <a:lnL w="7620">
                      <a:solidFill>
                        <a:srgbClr val="D6E5DE"/>
                      </a:solidFill>
                      <a:prstDash val="solid"/>
                    </a:lnL>
                    <a:lnR w="7620">
                      <a:solidFill>
                        <a:srgbClr val="D6E5DE"/>
                      </a:solidFill>
                      <a:prstDash val="solid"/>
                    </a:lnR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EFF7F3"/>
                    </a:solidFill>
                  </a:tcPr>
                </a:tc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PubNub</a:t>
                      </a:r>
                    </a:p>
                  </a:txBody>
                  <a:tcPr marL="84783" marR="84783" marT="39131" marB="39131" anchor="ctr">
                    <a:lnR w="7620">
                      <a:solidFill>
                        <a:srgbClr val="D6E5DE"/>
                      </a:solidFill>
                      <a:prstDash val="solid"/>
                    </a:lnR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EFF7F3"/>
                    </a:solidFill>
                  </a:tcPr>
                </a:tc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Backend-to-device commands and device-to-backend status</a:t>
                      </a:r>
                    </a:p>
                  </a:txBody>
                  <a:tcPr marL="84783" marR="84783" marT="39131" marB="39131" anchor="ctr">
                    <a:lnR w="7620">
                      <a:solidFill>
                        <a:srgbClr val="D6E5DE"/>
                      </a:solidFill>
                      <a:prstDash val="solid"/>
                    </a:lnR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EFF7F3"/>
                    </a:solidFill>
                  </a:tcPr>
                </a:tc>
              </a:tr>
              <a:tr h="495300"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IoT controller</a:t>
                      </a:r>
                    </a:p>
                  </a:txBody>
                  <a:tcPr marL="84783" marR="84783" marT="39131" marB="39131" anchor="ctr">
                    <a:lnL w="7620">
                      <a:solidFill>
                        <a:srgbClr val="D6E5DE"/>
                      </a:solidFill>
                      <a:prstDash val="solid"/>
                    </a:lnL>
                    <a:lnR w="7620">
                      <a:solidFill>
                        <a:srgbClr val="D6E5DE"/>
                      </a:solidFill>
                      <a:prstDash val="solid"/>
                    </a:lnR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Raspberry Pi and Python</a:t>
                      </a:r>
                    </a:p>
                  </a:txBody>
                  <a:tcPr marL="84783" marR="84783" marT="39131" marB="39131" anchor="ctr">
                    <a:lnR w="7620">
                      <a:solidFill>
                        <a:srgbClr val="D6E5DE"/>
                      </a:solidFill>
                      <a:prstDash val="solid"/>
                    </a:lnR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Latch control, sensor readings, command acknowledgements</a:t>
                      </a:r>
                    </a:p>
                  </a:txBody>
                  <a:tcPr marL="84783" marR="84783" marT="39131" marB="39131" anchor="ctr">
                    <a:lnR w="7620">
                      <a:solidFill>
                        <a:srgbClr val="D6E5DE"/>
                      </a:solidFill>
                      <a:prstDash val="solid"/>
                    </a:lnR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Hosting</a:t>
                      </a:r>
                    </a:p>
                  </a:txBody>
                  <a:tcPr marL="84783" marR="84783" marT="39131" marB="39131" anchor="ctr">
                    <a:lnL w="7620">
                      <a:solidFill>
                        <a:srgbClr val="D6E5DE"/>
                      </a:solidFill>
                      <a:prstDash val="solid"/>
                    </a:lnL>
                    <a:lnR w="7620">
                      <a:solidFill>
                        <a:srgbClr val="D6E5DE"/>
                      </a:solidFill>
                      <a:prstDash val="solid"/>
                    </a:lnR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EFF7F3"/>
                    </a:solidFill>
                  </a:tcPr>
                </a:tc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AWS with a custom domain</a:t>
                      </a:r>
                    </a:p>
                  </a:txBody>
                  <a:tcPr marL="84783" marR="84783" marT="39131" marB="39131" anchor="ctr">
                    <a:lnR w="7620">
                      <a:solidFill>
                        <a:srgbClr val="D6E5DE"/>
                      </a:solidFill>
                      <a:prstDash val="solid"/>
                    </a:lnR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EFF7F3"/>
                    </a:solidFill>
                  </a:tcPr>
                </a:tc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Cloud-hosted application</a:t>
                      </a:r>
                    </a:p>
                  </a:txBody>
                  <a:tcPr marL="84783" marR="84783" marT="39131" marB="39131" anchor="ctr">
                    <a:lnR w="7620">
                      <a:solidFill>
                        <a:srgbClr val="D6E5DE"/>
                      </a:solidFill>
                      <a:prstDash val="solid"/>
                    </a:lnR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EFF7F3"/>
                    </a:solidFill>
                  </a:tcPr>
                </a:tc>
              </a:tr>
              <a:tr h="495300"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Web serving</a:t>
                      </a:r>
                    </a:p>
                  </a:txBody>
                  <a:tcPr marL="84783" marR="84783" marT="39131" marB="39131" anchor="ctr">
                    <a:lnL w="7620">
                      <a:solidFill>
                        <a:srgbClr val="D6E5DE"/>
                      </a:solidFill>
                      <a:prstDash val="solid"/>
                    </a:lnL>
                    <a:lnR w="7620">
                      <a:solidFill>
                        <a:srgbClr val="D6E5DE"/>
                      </a:solidFill>
                      <a:prstDash val="solid"/>
                    </a:lnR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Nginx and a production WSGI server</a:t>
                      </a:r>
                    </a:p>
                  </a:txBody>
                  <a:tcPr marL="84783" marR="84783" marT="39131" marB="39131" anchor="ctr">
                    <a:lnR w="7620">
                      <a:solidFill>
                        <a:srgbClr val="D6E5DE"/>
                      </a:solidFill>
                      <a:prstDash val="solid"/>
                    </a:lnR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HTTPS entry point and Flask hosting</a:t>
                      </a:r>
                    </a:p>
                  </a:txBody>
                  <a:tcPr marL="84783" marR="84783" marT="39131" marB="39131" anchor="ctr">
                    <a:lnR w="7620">
                      <a:solidFill>
                        <a:srgbClr val="D6E5DE"/>
                      </a:solidFill>
                      <a:prstDash val="solid"/>
                    </a:lnR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Version control</a:t>
                      </a:r>
                    </a:p>
                  </a:txBody>
                  <a:tcPr marL="84783" marR="84783" marT="39131" marB="39131" anchor="ctr">
                    <a:lnL w="7620">
                      <a:solidFill>
                        <a:srgbClr val="D6E5DE"/>
                      </a:solidFill>
                      <a:prstDash val="solid"/>
                    </a:lnL>
                    <a:lnR w="7620">
                      <a:solidFill>
                        <a:srgbClr val="D6E5DE"/>
                      </a:solidFill>
                      <a:prstDash val="solid"/>
                    </a:lnR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EFF7F3"/>
                    </a:solidFill>
                  </a:tcPr>
                </a:tc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Git and GitHub</a:t>
                      </a:r>
                    </a:p>
                  </a:txBody>
                  <a:tcPr marL="84783" marR="84783" marT="39131" marB="39131" anchor="ctr">
                    <a:lnR w="7620">
                      <a:solidFill>
                        <a:srgbClr val="D6E5DE"/>
                      </a:solidFill>
                      <a:prstDash val="solid"/>
                    </a:lnR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EFF7F3"/>
                    </a:solidFill>
                  </a:tcPr>
                </a:tc>
                <a:tc>
                  <a:txBody>
                    <a:bodyPr wrap="square" lIns="133350" tIns="57150" rIns="114300" bIns="5715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Source code, documentation, and development history</a:t>
                      </a:r>
                    </a:p>
                  </a:txBody>
                  <a:tcPr marL="84783" marR="84783" marT="39131" marB="39131" anchor="ctr">
                    <a:lnR w="7620">
                      <a:solidFill>
                        <a:srgbClr val="D6E5DE"/>
                      </a:solidFill>
                      <a:prstDash val="solid"/>
                    </a:lnR>
                    <a:lnB w="7620">
                      <a:solidFill>
                        <a:srgbClr val="D6E5DE"/>
                      </a:solidFill>
                      <a:prstDash val="solid"/>
                    </a:lnB>
                    <a:solidFill>
                      <a:srgbClr val="EFF7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99283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Straight Arrow Connector 16">
            <a:extLst xmlns:a="http://schemas.openxmlformats.org/drawingml/2006/main">
              <a:ext uri="{FF2B5EF4-FFF2-40B4-BE49-F238E27FC236}">
                <a16:creationId xmlns:a16="http://schemas.microsoft.com/office/drawing/2014/main" id="{5C783D4B-13C7-4365-A28B-F64827EB3A6F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0287000" y="371475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F0D4"/>
            </a:solidFill>
            <a:prstDash val="solid"/>
            <a:tailEnd type="triangle" w="sm" len="sm"/>
          </a:ln>
        </p:spPr>
      </p:cxnSp>
      <p:cxnSp>
        <p:nvCxnSpPr>
          <p:cNvPr id="16" name="Straight Arrow Connector 15">
            <a:extLst xmlns:a="http://schemas.openxmlformats.org/drawingml/2006/main">
              <a:ext uri="{FF2B5EF4-FFF2-40B4-BE49-F238E27FC236}">
                <a16:creationId xmlns:a16="http://schemas.microsoft.com/office/drawing/2014/main" id="{DEA715EC-24CD-46BA-A49A-4550D8F7F115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0287000" y="238125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F0D4"/>
            </a:solidFill>
            <a:prstDash val="solid"/>
            <a:tailEnd type="triangle" w="sm" len="sm"/>
          </a:ln>
        </p:spPr>
      </p:cxnSp>
      <p:cxnSp>
        <p:nvCxnSpPr>
          <p:cNvPr id="15" name="Straight Arrow Connector 14">
            <a:extLst xmlns:a="http://schemas.openxmlformats.org/drawingml/2006/main">
              <a:ext uri="{FF2B5EF4-FFF2-40B4-BE49-F238E27FC236}">
                <a16:creationId xmlns:a16="http://schemas.microsoft.com/office/drawing/2014/main" id="{1A9B2B59-4159-4F0F-97DB-9B06614356A6}"/>
              </a:ext>
            </a:extLst>
          </p:cNvPr>
          <p:cNvCxnSpPr>
            <a:stCxn xmlns:a="http://schemas.openxmlformats.org/drawingml/2006/main" id="11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4429125" y="371475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F0D4"/>
            </a:solidFill>
            <a:prstDash val="solid"/>
            <a:tailEnd type="triangle" w="sm" len="sm"/>
          </a:ln>
        </p:spPr>
      </p:cxnSp>
      <p:cxnSp>
        <p:nvCxnSpPr>
          <p:cNvPr id="14" name="Straight Arrow Connector 13">
            <a:extLst xmlns:a="http://schemas.openxmlformats.org/drawingml/2006/main">
              <a:ext uri="{FF2B5EF4-FFF2-40B4-BE49-F238E27FC236}">
                <a16:creationId xmlns:a16="http://schemas.microsoft.com/office/drawing/2014/main" id="{62784107-8C38-427A-8AD9-5B6519F233A7}"/>
              </a:ext>
            </a:extLst>
          </p:cNvPr>
          <p:cNvCxnSpPr>
            <a:stCxn xmlns:a="http://schemas.openxmlformats.org/drawingml/2006/main" id="4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4429125" y="238125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F0D4"/>
            </a:solidFill>
            <a:prstDash val="solid"/>
            <a:tailEnd type="triangle" w="sm" len="sm"/>
          </a:ln>
        </p:spPr>
      </p:cxnSp>
      <p:cxnSp>
        <p:nvCxnSpPr>
          <p:cNvPr id="9" name="Straight Arrow Connector 8">
            <a:extLst xmlns:a="http://schemas.openxmlformats.org/drawingml/2006/main">
              <a:ext uri="{FF2B5EF4-FFF2-40B4-BE49-F238E27FC236}">
                <a16:creationId xmlns:a16="http://schemas.microsoft.com/office/drawing/2014/main" id="{7F4D42A2-555A-4EF3-B289-AB17E80558F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143875" y="333375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F0D4"/>
            </a:solidFill>
            <a:prstDash val="solid"/>
            <a:tailEnd type="triangle" w="sm" len="sm"/>
          </a:ln>
        </p:spPr>
      </p:cxnSp>
      <p:cxnSp>
        <p:nvCxnSpPr>
          <p:cNvPr id="8" name="Straight Arrow Connector 7">
            <a:extLst xmlns:a="http://schemas.openxmlformats.org/drawingml/2006/main">
              <a:ext uri="{FF2B5EF4-FFF2-40B4-BE49-F238E27FC236}">
                <a16:creationId xmlns:a16="http://schemas.microsoft.com/office/drawing/2014/main" id="{31D91D11-EEBB-42E7-8CAF-220ED8CF6AA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619750" y="3333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F0D4"/>
            </a:solidFill>
            <a:prstDash val="solid"/>
            <a:tailEnd type="triangle" w="sm" len="sm"/>
          </a:ln>
        </p:spPr>
      </p:cxnSp>
      <p:cxnSp>
        <p:nvCxnSpPr>
          <p:cNvPr id="7" name="Straight Arrow Connector 6">
            <a:extLst xmlns:a="http://schemas.openxmlformats.org/drawingml/2006/main">
              <a:ext uri="{FF2B5EF4-FFF2-40B4-BE49-F238E27FC236}">
                <a16:creationId xmlns:a16="http://schemas.microsoft.com/office/drawing/2014/main" id="{54224DEB-C7E9-4C00-9C6F-C56E4B11648A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305050" y="3333750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F0D4"/>
            </a:solidFill>
            <a:prstDash val="solid"/>
            <a:tailEnd type="triangle" w="sm" len="sm"/>
          </a:ln>
        </p:spPr>
      </p:cxn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9862AE3-FE7C-428F-A82F-3FAE3F68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0D4"/>
          </a:solidFill>
          <a:ln xmlns:a="http://schemas.openxmlformats.org/drawingml/2006/main" w="14288">
            <a:solidFill>
              <a:srgbClr val="B7F0D4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DA3DE79-A5D1-4F29-AE11-29DCED64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52750"/>
            <a:ext cx="238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0D4"/>
          </a:solidFill>
          <a:ln xmlns:a="http://schemas.openxmlformats.org/drawingml/2006/main" w="14288">
            <a:solidFill>
              <a:srgbClr val="B7F0D4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Flask on AWS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Nginx + WSGI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91B13C0-1C2A-4628-ACC5-8DDE253A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16668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0D4"/>
          </a:solidFill>
          <a:ln xmlns:a="http://schemas.openxmlformats.org/drawingml/2006/main" w="14288">
            <a:solidFill>
              <a:srgbClr val="B7F0D4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PubNub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54E7763-70E4-4AFF-8E26-39BBEE60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0D4"/>
          </a:solidFill>
          <a:ln xmlns:a="http://schemas.openxmlformats.org/drawingml/2006/main" w="14288">
            <a:solidFill>
              <a:srgbClr val="B7F0D4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Raspberry Pi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D1D026A-82D4-4208-87FF-984D2037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19250"/>
            <a:ext cx="238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54D"/>
          </a:solidFill>
          <a:ln xmlns:a="http://schemas.openxmlformats.org/drawingml/2006/main" w="14288">
            <a:solidFill>
              <a:srgbClr val="B7F0D4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BE0AB72-381F-44E8-8B2A-E397E612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76750"/>
            <a:ext cx="238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54D"/>
          </a:solidFill>
          <a:ln xmlns:a="http://schemas.openxmlformats.org/drawingml/2006/main" w="14288">
            <a:solidFill>
              <a:srgbClr val="B7F0D4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Stripe test mode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D41D12C-5CEF-4CD1-A54B-52755BDF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192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54D"/>
          </a:solidFill>
          <a:ln xmlns:a="http://schemas.openxmlformats.org/drawingml/2006/main" w="14288">
            <a:solidFill>
              <a:srgbClr val="B7F0D4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Door sensor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92F063D-EF5D-4713-96BB-069B3AE7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767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54D"/>
          </a:solidFill>
          <a:ln xmlns:a="http://schemas.openxmlformats.org/drawingml/2006/main" w="14288">
            <a:solidFill>
              <a:srgbClr val="B7F0D4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Servo latch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209C144-6B47-45D2-A38D-57550D90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28950"/>
            <a:ext cx="809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7F0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B7F0D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F0D4"/>
                </a:solidFill>
                <a:latin typeface="Arial"/>
                <a:ea typeface="Arial"/>
                <a:cs typeface="Arial"/>
              </a:rPr>
              <a:t>HTTPS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4FA0A68-2A0C-473B-81C4-5F54A8BE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71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7F0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B7F0D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7F0D4"/>
                </a:solidFill>
                <a:latin typeface="Arial"/>
                <a:ea typeface="Arial"/>
                <a:cs typeface="Arial"/>
              </a:rPr>
              <a:t>Commands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F3FF5E6E-048F-4E00-9FD0-B88214FC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578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7F0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B7F0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F0D4"/>
                </a:solidFill>
                <a:latin typeface="Arial"/>
                <a:ea typeface="Arial"/>
                <a:cs typeface="Arial"/>
              </a:rPr>
              <a:t>Status and acknowledgements return through PubNub.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CB6FAC3-34FD-6492-5EDE-BA6EBEAF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Proposed 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2019442920"/>
      </p:ext>
    </p:extLst>
  </p:cSld>
</p:sld>
</file>

<file path=ppt/theme/theme1.xml><?xml version="1.0" encoding="utf-8"?>
<a:theme xmlns:a="http://schemas.openxmlformats.org/drawingml/2006/main" name="ChatGPT">
  <a:themeElements>
    <a:clrScheme name="PayBox">
      <a:dk1>
        <a:srgbClr val="173B35"/>
      </a:dk1>
      <a:lt1>
        <a:srgbClr val="FFFFFF"/>
      </a:lt1>
      <a:dk2>
        <a:srgbClr val="21554D"/>
      </a:dk2>
      <a:lt2>
        <a:srgbClr val="EFF7F3"/>
      </a:lt2>
      <a:accent1>
        <a:srgbClr val="173B35"/>
      </a:accent1>
      <a:accent2>
        <a:srgbClr val="B7F0D4"/>
      </a:accent2>
      <a:accent3>
        <a:srgbClr val="21554D"/>
      </a:accent3>
      <a:accent4>
        <a:srgbClr val="91B6A6"/>
      </a:accent4>
      <a:accent5>
        <a:srgbClr val="EFF7F3"/>
      </a:accent5>
      <a:accent6>
        <a:srgbClr val="087F67"/>
      </a:accent6>
      <a:hlink>
        <a:srgbClr val="B7F0D4"/>
      </a:hlink>
      <a:folHlink>
        <a:srgbClr val="91B6A6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ayBox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2026-10-16T07:52:50.1970000Z</dcterms:created>
  <dcterms:modified xsi:type="dcterms:W3CDTF">2026-10-16T07:52:50.1970000Z</dcterms:modified>
</coreProperties>
</file>